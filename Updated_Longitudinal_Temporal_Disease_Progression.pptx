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" charset="1" panose="02020603050405020304"/>
      <p:regular r:id="rId20"/>
    </p:embeddedFont>
    <p:embeddedFont>
      <p:font typeface="Times New Roman Bold" charset="1" panose="02020803070505020304"/>
      <p:regular r:id="rId21"/>
    </p:embeddedFont>
    <p:embeddedFont>
      <p:font typeface="Times New Roman Bold Italics" charset="1" panose="02020703060505090304"/>
      <p:regular r:id="rId22"/>
    </p:embeddedFont>
    <p:embeddedFont>
      <p:font typeface="Times New Roman Italics" charset="1" panose="02020503050405090304"/>
      <p:regular r:id="rId23"/>
    </p:embeddedFont>
    <p:embeddedFont>
      <p:font typeface="Calibri (MS)" charset="1" panose="020F0502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jpe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Relationship Id="rId6" Type="http://schemas.openxmlformats.org/officeDocument/2006/relationships/image" Target="../media/image9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e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e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eg"/><Relationship Id="rId5" Type="http://schemas.openxmlformats.org/officeDocument/2006/relationships/hyperlink" Target="https://github.com/Venkat-023/Longitudinal-Temporal-Disease-Progression/tree/main" TargetMode="External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eg"/><Relationship Id="rId5" Type="http://schemas.openxmlformats.org/officeDocument/2006/relationships/image" Target="../media/image13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eg"/><Relationship Id="rId5" Type="http://schemas.openxmlformats.org/officeDocument/2006/relationships/image" Target="../media/image14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Relationship Id="rId6" Type="http://schemas.openxmlformats.org/officeDocument/2006/relationships/hyperlink" Target="https://www.researchgate.net/publication/392255839_Predicting_Disease_Progression_Using_Longitudinal_EHR_Data_with_Deep_Learni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" t="0" r="-434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6" t="0" r="-236" b="0"/>
              </a:stretch>
            </a:blipFill>
          </p:spPr>
          <p:txBody>
            <a:bodyPr/>
            <a:p/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57296" y="4475881"/>
            <a:ext cx="3809595" cy="2535112"/>
          </a:xfrm>
          <a:custGeom>
            <a:avLst/>
            <a:gdLst/>
            <a:ahLst/>
            <a:cxnLst/>
            <a:rect r="r" b="b" t="t" l="l"/>
            <a:pathLst>
              <a:path h="2535112" w="3809595">
                <a:moveTo>
                  <a:pt x="0" y="0"/>
                </a:moveTo>
                <a:lnTo>
                  <a:pt x="3809595" y="0"/>
                </a:lnTo>
                <a:lnTo>
                  <a:pt x="3809595" y="2535112"/>
                </a:lnTo>
                <a:lnTo>
                  <a:pt x="0" y="2535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4541339" y="1460563"/>
            <a:ext cx="9856460" cy="92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 Nagar, Kothanur, Bengaluru - 560076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6512" y="4697787"/>
            <a:ext cx="10746115" cy="2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Academic year 2026– 2027 </a:t>
            </a: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Phase 3</a:t>
            </a:r>
          </a:p>
          <a:p>
            <a:pPr algn="ctr">
              <a:lnSpc>
                <a:spcPts val="5184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(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BCS685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- 1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619" y="2496312"/>
            <a:ext cx="15856763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sz="3900" b="1">
                <a:latin typeface="Times New Roman"/>
              </a:rPr>
              <a:t>LONGITUDINAL TEMPORAL DISEASE PROGRESSION</a:t>
            </a:r>
          </a:p>
          <a:p>
            <a:pPr algn="ctr"/>
            <a:r>
              <a:rPr sz="3900" b="1">
                <a:latin typeface="Times New Roman"/>
              </a:rPr>
              <a:t>Heart Disease Modeling with Deep Learning &amp; Gradient Boosting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34855" y="7442549"/>
            <a:ext cx="6400467" cy="193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Presented by:</a:t>
            </a: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30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M Akshay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- 1RF23CS068</a:t>
            </a:r>
          </a:p>
          <a:p>
            <a:pPr algn="ctr">
              <a:lnSpc>
                <a:spcPts val="30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Hemanth Kumar K- 1RF23CS072</a:t>
            </a:r>
          </a:p>
          <a:p>
            <a:pPr algn="ctr">
              <a:lnSpc>
                <a:spcPts val="30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 Gopalakrishna- 1RF23CS159</a:t>
            </a:r>
          </a:p>
          <a:p>
            <a:pPr algn="ctr">
              <a:lnSpc>
                <a:spcPts val="30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Venkat Baba Yemineni- 1RF23CS181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2199" y="7506900"/>
            <a:ext cx="4719714" cy="193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7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Under the Guidance of:</a:t>
            </a:r>
          </a:p>
          <a:p>
            <a:pPr algn="ctr">
              <a:lnSpc>
                <a:spcPts val="30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Padmasree N</a:t>
            </a:r>
          </a:p>
          <a:p>
            <a:pPr algn="ctr">
              <a:lnSpc>
                <a:spcPts val="30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algn="ctr">
              <a:lnSpc>
                <a:spcPts val="30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CS&amp;E</a:t>
            </a:r>
          </a:p>
          <a:p>
            <a:pPr algn="ctr">
              <a:lnSpc>
                <a:spcPts val="30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RVITM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05933" y="9245022"/>
            <a:ext cx="144198" cy="95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2"/>
              </a:lnSpc>
              <a:spcBef>
                <a:spcPct val="0"/>
              </a:spcBef>
            </a:pPr>
            <a:r>
              <a:rPr lang="en-US" sz="49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" t="0" r="-434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6" t="0" r="-236" b="0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624176" y="670802"/>
            <a:ext cx="13039649" cy="1262250"/>
            <a:chOff x="0" y="0"/>
            <a:chExt cx="17386198" cy="168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86201" cy="1682996"/>
            </a:xfrm>
            <a:custGeom>
              <a:avLst/>
              <a:gdLst/>
              <a:ahLst/>
              <a:cxnLst/>
              <a:rect r="r" b="b" t="t" l="l"/>
              <a:pathLst>
                <a:path h="1682996" w="17386201">
                  <a:moveTo>
                    <a:pt x="0" y="0"/>
                  </a:moveTo>
                  <a:lnTo>
                    <a:pt x="17386201" y="0"/>
                  </a:lnTo>
                  <a:lnTo>
                    <a:pt x="17386201" y="1682996"/>
                  </a:lnTo>
                  <a:lnTo>
                    <a:pt x="0" y="16829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1290" r="0" b="-15129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7386198" cy="165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43"/>
                </a:lnSpc>
              </a:pPr>
              <a:r>
                <a:rPr lang="en-US" sz="42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839697" y="9211929"/>
            <a:ext cx="288264" cy="95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2"/>
              </a:lnSpc>
              <a:spcBef>
                <a:spcPct val="0"/>
              </a:spcBef>
            </a:pPr>
            <a:r>
              <a:rPr lang="en-US" sz="49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31126" y="1728216"/>
            <a:ext cx="17169749" cy="8229600"/>
            <a:chOff x="0" y="0"/>
            <a:chExt cx="22892998" cy="1097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69296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369296">
                  <a:moveTo>
                    <a:pt x="0" y="0"/>
                  </a:moveTo>
                  <a:lnTo>
                    <a:pt x="10369296" y="0"/>
                  </a:lnTo>
                  <a:lnTo>
                    <a:pt x="10369296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79271" y="1911633"/>
              <a:ext cx="21813727" cy="4253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39"/>
                </a:lnSpc>
              </a:pPr>
              <a:r>
                <a:rPr lang="en-US" sz="5036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                                              </a:t>
              </a:r>
            </a:p>
            <a:p>
              <a:pPr algn="l">
                <a:lnSpc>
                  <a:spcPts val="4835"/>
                </a:lnSpc>
              </a:pPr>
              <a:r>
                <a:rPr lang="en-US" sz="4477" b="true">
                  <a:solidFill>
                    <a:srgbClr val="22222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  <a:p>
              <a:pPr algn="l">
                <a:lnSpc>
                  <a:spcPts val="4835"/>
                </a:lnSpc>
              </a:pPr>
            </a:p>
            <a:p>
              <a:pPr algn="l">
                <a:lnSpc>
                  <a:spcPts val="4835"/>
                </a:lnSpc>
              </a:pPr>
            </a:p>
            <a:p>
              <a:pPr algn="l" marL="1320265" indent="-440088" lvl="2">
                <a:lnSpc>
                  <a:spcPts val="4835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079271" y="4057393"/>
              <a:ext cx="5852936" cy="158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36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  <a:p>
              <a:pPr algn="ctr">
                <a:lnSpc>
                  <a:spcPts val="4536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79271" y="5229468"/>
              <a:ext cx="5458001" cy="158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36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  <a:p>
              <a:pPr algn="ctr">
                <a:lnSpc>
                  <a:spcPts val="4536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079271" y="6483937"/>
              <a:ext cx="3990446" cy="158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36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</a:t>
              </a:r>
            </a:p>
            <a:p>
              <a:pPr algn="ctr">
                <a:lnSpc>
                  <a:spcPts val="4536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79271" y="7724808"/>
              <a:ext cx="5747632" cy="158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6"/>
                </a:lnSpc>
                <a:spcBef>
                  <a:spcPct val="0"/>
                </a:spcBef>
              </a:pPr>
              <a:r>
                <a:rPr sz="2600">
                  <a:latin typeface="Times New Roman"/>
                </a:rPr>
                <a:t>Project Outcomes &amp; Results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79271" y="8906081"/>
              <a:ext cx="3481740" cy="818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6"/>
                </a:lnSpc>
                <a:spcBef>
                  <a:spcPct val="0"/>
                </a:spcBef>
              </a:pPr>
              <a:r>
                <a:rPr sz="2600">
                  <a:latin typeface="Times New Roman"/>
                </a:rPr>
                <a:t>References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829913" y="2578056"/>
              <a:ext cx="449526" cy="126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332"/>
                </a:lnSpc>
                <a:spcBef>
                  <a:spcPct val="0"/>
                </a:spcBef>
              </a:pPr>
              <a:r>
                <a:rPr lang="en-US" sz="52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829913" y="3819268"/>
              <a:ext cx="449526" cy="126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332"/>
                </a:lnSpc>
                <a:spcBef>
                  <a:spcPct val="0"/>
                </a:spcBef>
              </a:pPr>
              <a:r>
                <a:rPr lang="en-US" sz="52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172117" y="4927843"/>
              <a:ext cx="1539383" cy="126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332"/>
                </a:lnSpc>
                <a:spcBef>
                  <a:spcPct val="0"/>
                </a:spcBef>
              </a:pPr>
              <a:r>
                <a:rPr lang="en-US" sz="52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3-4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514322" y="6165851"/>
              <a:ext cx="2854974" cy="126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332"/>
                </a:lnSpc>
                <a:spcBef>
                  <a:spcPct val="0"/>
                </a:spcBef>
              </a:pPr>
              <a:r>
                <a:rPr sz="2600">
                  <a:latin typeface="Times New Roman"/>
                </a:rPr>
                <a:t>5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955279" y="7325051"/>
              <a:ext cx="1920240" cy="126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7332"/>
                </a:lnSpc>
                <a:spcBef>
                  <a:spcPct val="0"/>
                </a:spcBef>
              </a:pPr>
              <a:r>
                <a:rPr sz="2100">
                  <a:latin typeface="Times New Roman"/>
                </a:rPr>
                <a:t>6–10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955279" y="8561523"/>
              <a:ext cx="1920240" cy="126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7332"/>
                </a:lnSpc>
                <a:spcBef>
                  <a:spcPct val="0"/>
                </a:spcBef>
              </a:pPr>
              <a:r>
                <a:rPr sz="2100">
                  <a:latin typeface="Times New Roman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4" t="0" r="-434" b="0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6" t="0" r="-236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24176" y="609600"/>
            <a:ext cx="13039649" cy="1262253"/>
            <a:chOff x="0" y="0"/>
            <a:chExt cx="17386198" cy="16830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86201" cy="1683000"/>
            </a:xfrm>
            <a:custGeom>
              <a:avLst/>
              <a:gdLst/>
              <a:ahLst/>
              <a:cxnLst/>
              <a:rect r="r" b="b" t="t" l="l"/>
              <a:pathLst>
                <a:path h="1683000" w="17386201">
                  <a:moveTo>
                    <a:pt x="0" y="0"/>
                  </a:moveTo>
                  <a:lnTo>
                    <a:pt x="17386201" y="0"/>
                  </a:lnTo>
                  <a:lnTo>
                    <a:pt x="17386201" y="1683000"/>
                  </a:lnTo>
                  <a:lnTo>
                    <a:pt x="0" y="1683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1289" r="0" b="-151289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7386198" cy="16544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05755" y="1673144"/>
            <a:ext cx="14499624" cy="3699086"/>
          </a:xfrm>
          <a:prstGeom prst="rect">
            <a:avLst/>
          </a:prstGeom>
        </p:spPr>
        <p:txBody>
          <a:bodyPr anchor="t" rtlCol="false" tIns="0" lIns="45720" bIns="0" rIns="0" wrap="square">
            <a:spAutoFit/>
          </a:bodyPr>
          <a:lstStyle/>
          <a:p>
            <a:pPr algn="l" marL="722657" indent="-361328" lvl="1">
              <a:buNone/>
              <a:lnSpc>
                <a:spcPts val="3614"/>
              </a:lnSpc>
              <a:spcAft>
                <a:spcPts val="800"/>
              </a:spcAft>
              <a:buFont typeface="Arial"/>
              <a:defRPr sz="2700">
                <a:solidFill>
                  <a:srgbClr val="262D34"/>
                </a:solidFill>
                <a:latin typeface="Calibri"/>
              </a:defRPr>
            </a:pPr>
            <a:r>
              <a:t>• Cardiovascular deterioration is a trajectory, not a single snapshot.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We formulate progression as binary classification: worsening vs stable/improving.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MIMIC-IV 2.1 ICU admissions are represented as sequences of 6 visits × 59 features.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BiLSTM-attention, BiGRU, and Transformer models learn directly from visit sequences.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Temporal feature engineering exposes trend, variability, velocity, and acceleration.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Calibrated gradient boosting produces the strongest and most deployable model.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23529" y="9478039"/>
            <a:ext cx="238286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2"/>
              </a:lnSpc>
              <a:spcBef>
                <a:spcPct val="0"/>
              </a:spcBef>
            </a:pPr>
            <a:r>
              <a:rPr lang="en-US" sz="3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897880"/>
            <a:ext cx="4526280" cy="2971800"/>
          </a:xfrm>
          <a:prstGeom prst="roundRect">
            <a:avLst/>
          </a:prstGeom>
          <a:solidFill>
            <a:srgbClr val="EEF3F9"/>
          </a:solidFill>
          <a:ln w="15240"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6217920"/>
            <a:ext cx="406908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19324D"/>
                </a:solidFill>
                <a:latin typeface="Calibri"/>
              </a:defRPr>
            </a:pPr>
            <a:r>
              <a:t>SEQUENCE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6903720"/>
            <a:ext cx="388620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BiLSTM-attention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BiGRU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Transformer encoder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5897880"/>
            <a:ext cx="4526280" cy="2971800"/>
          </a:xfrm>
          <a:prstGeom prst="roundRect">
            <a:avLst/>
          </a:prstGeom>
          <a:solidFill>
            <a:srgbClr val="EAF4F5"/>
          </a:solidFill>
          <a:ln w="15240">
            <a:solidFill>
              <a:srgbClr val="0B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6217920"/>
            <a:ext cx="406908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0B6E75"/>
                </a:solidFill>
                <a:latin typeface="Calibri"/>
              </a:defRPr>
            </a:pPr>
            <a:r>
              <a:t>TEMPORAL DESCRIPTORS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6903720"/>
            <a:ext cx="388620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Trend • variability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velocity • acceleration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1,534 rich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95760" y="5897880"/>
            <a:ext cx="4526280" cy="2971800"/>
          </a:xfrm>
          <a:prstGeom prst="roundRect">
            <a:avLst/>
          </a:prstGeom>
          <a:solidFill>
            <a:srgbClr val="EAF6EF"/>
          </a:solidFill>
          <a:ln w="15240">
            <a:solidFill>
              <a:srgbClr val="2D8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24360" y="6217920"/>
            <a:ext cx="406908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2D8A64"/>
                </a:solidFill>
                <a:latin typeface="Calibri"/>
              </a:defRPr>
            </a:pPr>
            <a:r>
              <a:t>CALIBRATED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15800" y="6903720"/>
            <a:ext cx="388620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HistGB • LightGBM • XGBoost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soft-vote ensemble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interpretable importance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" t="0" r="-434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6" t="0" r="-236" b="0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624176" y="862012"/>
            <a:ext cx="13039649" cy="1262250"/>
            <a:chOff x="0" y="0"/>
            <a:chExt cx="17386198" cy="168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86201" cy="1682996"/>
            </a:xfrm>
            <a:custGeom>
              <a:avLst/>
              <a:gdLst/>
              <a:ahLst/>
              <a:cxnLst/>
              <a:rect r="r" b="b" t="t" l="l"/>
              <a:pathLst>
                <a:path h="1682996" w="17386201">
                  <a:moveTo>
                    <a:pt x="0" y="0"/>
                  </a:moveTo>
                  <a:lnTo>
                    <a:pt x="17386201" y="0"/>
                  </a:lnTo>
                  <a:lnTo>
                    <a:pt x="17386201" y="1682996"/>
                  </a:lnTo>
                  <a:lnTo>
                    <a:pt x="0" y="16829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1290" r="0" b="-15129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7386198" cy="165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1"/>
                </a:lnSpc>
              </a:pPr>
              <a:r>
                <a:rPr sz="4000" b="1">
                  <a:latin typeface="Calibri"/>
                </a:rPr>
                <a:t>PROBLEM STATEMENT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923529" y="9478039"/>
            <a:ext cx="238286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2"/>
              </a:lnSpc>
              <a:spcBef>
                <a:spcPct val="0"/>
              </a:spcBef>
            </a:pPr>
            <a:r>
              <a:rPr lang="en-US" sz="3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6915" y="2549339"/>
            <a:ext cx="14614978" cy="5101578"/>
          </a:xfrm>
          <a:prstGeom prst="rect">
            <a:avLst/>
          </a:prstGeom>
        </p:spPr>
        <p:txBody>
          <a:bodyPr anchor="t" rtlCol="false" tIns="0" lIns="45720" bIns="0" rIns="0" wrap="square">
            <a:spAutoFit/>
          </a:bodyPr>
          <a:lstStyle/>
          <a:p>
            <a:pPr algn="l" marL="728406" indent="-364203" lvl="1">
              <a:buNone/>
              <a:lnSpc>
                <a:spcPts val="3643"/>
              </a:lnSpc>
              <a:spcAft>
                <a:spcPts val="800"/>
              </a:spcAft>
              <a:buFont typeface="Arial"/>
              <a:defRPr sz="2700">
                <a:solidFill>
                  <a:srgbClr val="262D34"/>
                </a:solidFill>
                <a:latin typeface="Calibri"/>
              </a:defRPr>
            </a:pPr>
            <a:r>
              <a:t>• Single-visit classifiers discard clinically meaningful change across admissions.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The target class is imbalanced: only 16.9% of samples represent worsening progression.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Sequence models can rank risk well, but the baseline shows low precision at threshold 0.5.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A useful system must preserve recall while reducing false-positive alerts.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• It must also be CPU-friendly, calibrated, and interpretable enough for deployment.</a:t>
            </a:r>
          </a:p>
          <a:p>
            <a:pPr>
              <a:spcAft>
                <a:spcPts val="800"/>
              </a:spcAft>
              <a:buNone/>
              <a:defRPr sz="2700">
                <a:solidFill>
                  <a:srgbClr val="262D34"/>
                </a:solidFill>
                <a:latin typeface="Calibri"/>
              </a:defRPr>
            </a:pPr>
            <a:r>
              <a:t>Research question: can explicit temporal descriptors outperform heavier sequence models?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" t="0" r="-43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6" t="0" r="-236" b="0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13053" y="1728216"/>
          <a:ext cx="17861894" cy="8898731"/>
        </p:xfrm>
        <a:graphic>
          <a:graphicData uri="http://schemas.openxmlformats.org/drawingml/2006/table">
            <a:tbl>
              <a:tblPr/>
              <a:tblGrid>
                <a:gridCol w="1045929"/>
                <a:gridCol w="3182438"/>
                <a:gridCol w="2164859"/>
                <a:gridCol w="3750750"/>
                <a:gridCol w="3598015"/>
                <a:gridCol w="4119903"/>
              </a:tblGrid>
              <a:tr h="6015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Author(s)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65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ced Heart Disease Prediction Through Temporal Feature with SCN-Deep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Vivek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Pandey, Umesh Kumar Lilhore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deep BiLSTM model predicts heart disease from ECG signals.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Captures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spatial and temporal ECG features accurately.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ies heavily on ECG signal availability.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68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ication of Deep Learning for Heart Attack Prediction with XAI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Eli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Dritsas, Maria Trigka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ares multiple deep learning models for heart attack prediction with explainable AI. 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acc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uracy with interpretable predictions using SHAP explanations.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 generalization due to dataset and static inputs.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68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ly Detection of Heart Failure Using In-Patient Longitudinal EHR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Ignat Drozdov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Benjam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Szubert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sformer predicts heart failure using longitudinal EHR.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ptures temporal dynamics and reveals disease subtypes.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large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datasets and limited interpretability.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68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Learning-B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ased Heart Disease Prediction Study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Hew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Majeed Zangana, Maryam A. Sulaiman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Detects 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early disease prediction using longitudinal EHRs.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rly prediction with built-in temporal and feature explainability.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ires large EHR datasets and retrospective validation.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57300" y="432816"/>
            <a:ext cx="15773400" cy="1988550"/>
            <a:chOff x="0" y="0"/>
            <a:chExt cx="21031200" cy="2651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1031200" cy="262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797942" y="9582126"/>
            <a:ext cx="238286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2"/>
              </a:lnSpc>
              <a:spcBef>
                <a:spcPct val="0"/>
              </a:spcBef>
            </a:pPr>
            <a:r>
              <a:rPr lang="en-US" sz="3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" t="0" r="-43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6" t="0" r="-236" b="0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13053" y="2183297"/>
          <a:ext cx="17861894" cy="8094178"/>
        </p:xfrm>
        <a:graphic>
          <a:graphicData uri="http://schemas.openxmlformats.org/drawingml/2006/table">
            <a:tbl>
              <a:tblPr/>
              <a:tblGrid>
                <a:gridCol w="1045929"/>
                <a:gridCol w="3182438"/>
                <a:gridCol w="2164859"/>
                <a:gridCol w="3750750"/>
                <a:gridCol w="3598015"/>
                <a:gridCol w="4119903"/>
              </a:tblGrid>
              <a:tr h="6016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Author(s)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8283">
                <a:tc>
                  <a:txBody>
                    <a:bodyPr anchor="t" rtlCol="false"/>
                    <a:lstStyle/>
                    <a:p>
                      <a:pPr algn="l">
                        <a:defRPr sz="1700">
                          <a:latin typeface="Times New Roman"/>
                        </a:defRPr>
                      </a:pPr>
                      <a:r>
                        <a:t>2023</a:t>
                      </a:r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 sz="1700">
                          <a:latin typeface="Times New Roman"/>
                        </a:defRPr>
                      </a:pPr>
                      <a:r>
                        <a:t>MIMIC-IV, a Freely Accessible Electronic Health Record Dataset</a:t>
                      </a:r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 sz="1700">
                          <a:latin typeface="Times New Roman"/>
                        </a:defRPr>
                      </a:pPr>
                      <a:r>
                        <a:t>A. E. W. Johnson et al.</a:t>
                      </a:r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 sz="1700">
                          <a:latin typeface="Times New Roman"/>
                        </a:defRPr>
                      </a:pPr>
                      <a:r>
                        <a:t>Presents the deidentified hospital and ICU dataset used for reproducible clinical ML.</a:t>
                      </a:r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 sz="1700">
                          <a:latin typeface="Times New Roman"/>
                        </a:defRPr>
                      </a:pPr>
                      <a:r>
                        <a:t>Large-scale longitudinal data with detailed documentation.</a:t>
                      </a:r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 sz="1700">
                          <a:latin typeface="Times New Roman"/>
                        </a:defRPr>
                      </a:pPr>
                      <a:r>
                        <a:t>Credentialed access; observational, single-center data.</a:t>
                      </a:r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73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Longitudinal Health Trajectories with a Transformer-Based Deep Learning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ans Moen et al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ansformer model for longitudinal disease trajectory prediction.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tures temporal patterns and evolving patient health trajectories.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eeds large datasets and limited interpretability.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95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Clustering of Disease Progression Patterns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Dulin Wang 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Xiao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tian Ma , Paul E.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usters patients using temporal deep learning on longitudinal data.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ptures temporal dynamics and reveals disease subtypes.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model with limited clinical deployment readiness.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73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ansformer Models for Early Chronic Disease Predicti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Hew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Majeed Zangana, Maryam A. Sulaiman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Detects 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early disease prediction using longitudinal EHRs.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rly prediction with built-in temporal and feature explainability.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ires large EHR datasets and retrospective validation.</a:t>
                      </a:r>
                      <a:endParaRPr lang="en-US" sz="1100"/>
                    </a:p>
                  </a:txBody>
                  <a:tcPr marL="68588" marR="68588" marT="68588" marB="6858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57300" y="432816"/>
            <a:ext cx="15773400" cy="1988550"/>
            <a:chOff x="0" y="0"/>
            <a:chExt cx="21031200" cy="2651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1031200" cy="262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797942" y="9582126"/>
            <a:ext cx="238286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2"/>
              </a:lnSpc>
              <a:spcBef>
                <a:spcPct val="0"/>
              </a:spcBef>
            </a:pPr>
            <a:r>
              <a:rPr lang="en-US" sz="3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" t="0" r="-43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6" t="0" r="-2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86812" y="449391"/>
            <a:ext cx="13039649" cy="1262250"/>
            <a:chOff x="0" y="0"/>
            <a:chExt cx="17386198" cy="168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86201" cy="1682996"/>
            </a:xfrm>
            <a:custGeom>
              <a:avLst/>
              <a:gdLst/>
              <a:ahLst/>
              <a:cxnLst/>
              <a:rect r="r" b="b" t="t" l="l"/>
              <a:pathLst>
                <a:path h="1682996" w="17386201">
                  <a:moveTo>
                    <a:pt x="0" y="0"/>
                  </a:moveTo>
                  <a:lnTo>
                    <a:pt x="17386201" y="0"/>
                  </a:lnTo>
                  <a:lnTo>
                    <a:pt x="17386201" y="1682996"/>
                  </a:lnTo>
                  <a:lnTo>
                    <a:pt x="0" y="16829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1290" r="0" b="-1512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7386198" cy="165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1"/>
                </a:lnSpc>
              </a:pPr>
              <a:r>
                <a:rPr lang="en-US" sz="4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538192" y="9582126"/>
            <a:ext cx="621792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82"/>
              </a:lnSpc>
              <a:spcBef>
                <a:spcPct val="0"/>
              </a:spcBef>
            </a:pPr>
            <a:r>
              <a:rPr sz="2700">
                <a:latin typeface="Calibri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965960"/>
            <a:ext cx="16550640" cy="749807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2743200"/>
            <a:ext cx="2743200" cy="2743200"/>
          </a:xfrm>
          <a:prstGeom prst="roundRect">
            <a:avLst/>
          </a:prstGeom>
          <a:solidFill>
            <a:srgbClr val="EEF3F9"/>
          </a:solidFill>
          <a:ln w="15240"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52728" y="2852928"/>
            <a:ext cx="438912" cy="438912"/>
          </a:xfrm>
          <a:prstGeom prst="ellipse">
            <a:avLst/>
          </a:prstGeom>
          <a:solidFill>
            <a:srgbClr val="19324D"/>
          </a:solidFill>
          <a:ln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85292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52928"/>
            <a:ext cx="1938528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9324D"/>
                </a:solidFill>
                <a:latin typeface="Calibri"/>
              </a:defRPr>
            </a:pPr>
            <a:r>
              <a:t>MIMIC-IV 2.1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03320"/>
            <a:ext cx="2286000" cy="1325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Cardiac cohort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35,256 samples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922776" y="3931920"/>
            <a:ext cx="502920" cy="274320"/>
          </a:xfrm>
          <a:prstGeom prst="rightArrow">
            <a:avLst/>
          </a:prstGeom>
          <a:solidFill>
            <a:srgbClr val="0B6E75"/>
          </a:solidFill>
          <a:ln>
            <a:solidFill>
              <a:srgbClr val="0B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70832" y="2743200"/>
            <a:ext cx="2743200" cy="2743200"/>
          </a:xfrm>
          <a:prstGeom prst="roundRect">
            <a:avLst/>
          </a:prstGeom>
          <a:solidFill>
            <a:srgbClr val="EAF4F5"/>
          </a:solidFill>
          <a:ln w="15240">
            <a:solidFill>
              <a:srgbClr val="0B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80560" y="2852928"/>
            <a:ext cx="438912" cy="438912"/>
          </a:xfrm>
          <a:prstGeom prst="ellipse">
            <a:avLst/>
          </a:prstGeom>
          <a:solidFill>
            <a:srgbClr val="0B6E75"/>
          </a:solidFill>
          <a:ln>
            <a:solidFill>
              <a:srgbClr val="0B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85292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2852928"/>
            <a:ext cx="1938528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0B6E75"/>
                </a:solidFill>
                <a:latin typeface="Calibri"/>
              </a:defRPr>
            </a:pPr>
            <a:r>
              <a:t>Preprocess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703320"/>
            <a:ext cx="2286000" cy="1325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Impute, scale, sanitize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70/15/15 split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50608" y="3931920"/>
            <a:ext cx="502920" cy="274320"/>
          </a:xfrm>
          <a:prstGeom prst="rightArrow">
            <a:avLst/>
          </a:prstGeom>
          <a:solidFill>
            <a:srgbClr val="0B6E75"/>
          </a:solidFill>
          <a:ln>
            <a:solidFill>
              <a:srgbClr val="0B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98664" y="2743200"/>
            <a:ext cx="2743200" cy="2743200"/>
          </a:xfrm>
          <a:prstGeom prst="roundRect">
            <a:avLst/>
          </a:prstGeom>
          <a:solidFill>
            <a:srgbClr val="FCF2E7"/>
          </a:solidFill>
          <a:ln w="15240">
            <a:solidFill>
              <a:srgbClr val="E88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8392" y="2852928"/>
            <a:ext cx="438912" cy="438912"/>
          </a:xfrm>
          <a:prstGeom prst="ellipse">
            <a:avLst/>
          </a:prstGeom>
          <a:solidFill>
            <a:srgbClr val="E8873D"/>
          </a:solidFill>
          <a:ln>
            <a:solidFill>
              <a:srgbClr val="E88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285292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2852928"/>
            <a:ext cx="1938528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E8873D"/>
                </a:solidFill>
                <a:latin typeface="Calibri"/>
              </a:defRPr>
            </a:pPr>
            <a:r>
              <a:t>Sequence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7264" y="3703320"/>
            <a:ext cx="2286000" cy="1325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6 visits × 59 features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per patient sample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378440" y="3931920"/>
            <a:ext cx="502920" cy="274320"/>
          </a:xfrm>
          <a:prstGeom prst="rightArrow">
            <a:avLst/>
          </a:prstGeom>
          <a:solidFill>
            <a:srgbClr val="0B6E75"/>
          </a:solidFill>
          <a:ln>
            <a:solidFill>
              <a:srgbClr val="0B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826496" y="2743200"/>
            <a:ext cx="2743200" cy="2743200"/>
          </a:xfrm>
          <a:prstGeom prst="roundRect">
            <a:avLst/>
          </a:prstGeom>
          <a:solidFill>
            <a:srgbClr val="EAF6EF"/>
          </a:solidFill>
          <a:ln w="15240">
            <a:solidFill>
              <a:srgbClr val="2D8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36224" y="2852928"/>
            <a:ext cx="438912" cy="438912"/>
          </a:xfrm>
          <a:prstGeom prst="ellipse">
            <a:avLst/>
          </a:prstGeom>
          <a:solidFill>
            <a:srgbClr val="2D8A64"/>
          </a:solidFill>
          <a:ln>
            <a:solidFill>
              <a:srgbClr val="2D8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36224" y="285292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20856" y="2852928"/>
            <a:ext cx="1938528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D8A64"/>
                </a:solidFill>
                <a:latin typeface="Calibri"/>
              </a:defRPr>
            </a:pPr>
            <a:r>
              <a:t>Two model tracks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55096" y="3703320"/>
            <a:ext cx="2286000" cy="1325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BiLSTM • BiGRU • Transformer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Temporal GBM features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3606272" y="3931920"/>
            <a:ext cx="502920" cy="274320"/>
          </a:xfrm>
          <a:prstGeom prst="rightArrow">
            <a:avLst/>
          </a:prstGeom>
          <a:solidFill>
            <a:srgbClr val="0B6E75"/>
          </a:solidFill>
          <a:ln>
            <a:solidFill>
              <a:srgbClr val="0B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4054328" y="2743200"/>
            <a:ext cx="2743200" cy="2743200"/>
          </a:xfrm>
          <a:prstGeom prst="roundRect">
            <a:avLst/>
          </a:prstGeom>
          <a:solidFill>
            <a:srgbClr val="EEF3F9"/>
          </a:solidFill>
          <a:ln w="15240"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164055" y="2852928"/>
            <a:ext cx="438912" cy="438912"/>
          </a:xfrm>
          <a:prstGeom prst="ellipse">
            <a:avLst/>
          </a:prstGeom>
          <a:solidFill>
            <a:srgbClr val="19324D"/>
          </a:solidFill>
          <a:ln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64055" y="285292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48688" y="2852928"/>
            <a:ext cx="1938528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9324D"/>
                </a:solidFill>
                <a:latin typeface="Calibri"/>
              </a:defRPr>
            </a:pPr>
            <a:r>
              <a:t>Validate &amp; calibrate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82928" y="3703320"/>
            <a:ext cx="2286000" cy="1325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Isotonic calibration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262D34"/>
                </a:solidFill>
                <a:latin typeface="Calibri"/>
              </a:defRPr>
            </a:pPr>
            <a:r>
              <a:t>F1-tuned threshold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0" y="6172200"/>
            <a:ext cx="14264640" cy="1920240"/>
          </a:xfrm>
          <a:prstGeom prst="roundRect">
            <a:avLst/>
          </a:prstGeom>
          <a:solidFill>
            <a:srgbClr val="19324D"/>
          </a:solidFill>
          <a:ln w="15240"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1720" y="6519672"/>
            <a:ext cx="13624560" cy="11887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Output: calibrated probability of worsening progression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Evaluation: Accuracy • Precision • Recall • F1 • ROC-AUC • PR-AUC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4" t="0" r="-434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6" t="0" r="-236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52690" y="717146"/>
            <a:ext cx="15906610" cy="2005347"/>
            <a:chOff x="0" y="0"/>
            <a:chExt cx="21031200" cy="2651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651400"/>
            </a:xfrm>
            <a:custGeom>
              <a:avLst/>
              <a:gdLst/>
              <a:ahLst/>
              <a:cxnLst/>
              <a:rect r="r" b="b" t="t" l="l"/>
              <a:pathLst>
                <a:path h="2651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400"/>
                  </a:lnTo>
                  <a:lnTo>
                    <a:pt x="0" y="2651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57" r="0" b="-104557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1031200" cy="262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sz="4200" b="1">
                  <a:latin typeface="Times New Roman"/>
                </a:rPr>
                <a:t>PROJECT OUTCOMES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538192" y="9582126"/>
            <a:ext cx="621792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82"/>
              </a:lnSpc>
              <a:spcBef>
                <a:spcPct val="0"/>
              </a:spcBef>
            </a:pPr>
            <a:r>
              <a:rPr sz="2700"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76272"/>
            <a:ext cx="15910559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19324D"/>
                </a:solidFill>
                <a:latin typeface="Calibri"/>
              </a:defRPr>
            </a:pPr>
            <a:r>
              <a:t>The project now delivers a reproducible full-data pipeline and a stronger deployable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154680"/>
            <a:ext cx="37033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3300984"/>
            <a:ext cx="342900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19324D"/>
                </a:solidFill>
                <a:latin typeface="Calibri"/>
              </a:defRPr>
            </a:pPr>
            <a:r>
              <a:t>35,256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39" y="3867912"/>
            <a:ext cx="3429000" cy="1051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C6874"/>
                </a:solidFill>
                <a:latin typeface="Calibri"/>
              </a:defRPr>
            </a:pPr>
            <a:r>
              <a:t>total longitudinal samples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3154680"/>
            <a:ext cx="37033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300984"/>
            <a:ext cx="342900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0B6E75"/>
                </a:solidFill>
                <a:latin typeface="Calibri"/>
              </a:defRPr>
            </a:pPr>
            <a:r>
              <a:t>0.7334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867912"/>
            <a:ext cx="3429000" cy="1051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C6874"/>
                </a:solidFill>
                <a:latin typeface="Calibri"/>
              </a:defRPr>
            </a:pPr>
            <a:r>
              <a:t>best F1 • GBM soft vote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19" y="3154680"/>
            <a:ext cx="37033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300984"/>
            <a:ext cx="342900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8A64"/>
                </a:solidFill>
                <a:latin typeface="Calibri"/>
              </a:defRPr>
            </a:pPr>
            <a:r>
              <a:t>0.9462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867912"/>
            <a:ext cx="3429000" cy="1051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C6874"/>
                </a:solidFill>
                <a:latin typeface="Calibri"/>
              </a:defRPr>
            </a:pPr>
            <a:r>
              <a:t>best ROC-AUC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78839" y="3154680"/>
            <a:ext cx="37033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5999" y="3300984"/>
            <a:ext cx="342900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E8873D"/>
                </a:solidFill>
                <a:latin typeface="Calibri"/>
              </a:defRPr>
            </a:pPr>
            <a:r>
              <a:t>3.3 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5999" y="3867912"/>
            <a:ext cx="3429000" cy="1051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C6874"/>
                </a:solidFill>
                <a:latin typeface="Calibri"/>
              </a:defRPr>
            </a:pPr>
            <a:r>
              <a:t>self-contained deployable artifact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669280"/>
            <a:ext cx="16184880" cy="2880360"/>
          </a:xfrm>
          <a:prstGeom prst="roundRect">
            <a:avLst/>
          </a:prstGeom>
          <a:solidFill>
            <a:srgbClr val="EEF3F9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6053328"/>
            <a:ext cx="7315200" cy="2011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262D34"/>
                </a:solidFill>
                <a:latin typeface="Calibri"/>
              </a:defRPr>
            </a:pPr>
            <a:r>
              <a:t>✓ Full MIMIC-IV 2.1 cardiac progression cohort</a:t>
            </a:r>
          </a:p>
          <a:p>
            <a:pPr algn="l">
              <a:spcAft>
                <a:spcPts val="500"/>
              </a:spcAft>
              <a:defRPr sz="2100" b="0">
                <a:solidFill>
                  <a:srgbClr val="262D34"/>
                </a:solidFill>
                <a:latin typeface="Calibri"/>
              </a:defRPr>
            </a:pPr>
            <a:r>
              <a:t>✓ Fair baseline reproduction on identical arrays</a:t>
            </a:r>
          </a:p>
          <a:p>
            <a:pPr algn="l">
              <a:spcAft>
                <a:spcPts val="500"/>
              </a:spcAft>
              <a:defRPr sz="2100" b="0">
                <a:solidFill>
                  <a:srgbClr val="262D34"/>
                </a:solidFill>
                <a:latin typeface="Calibri"/>
              </a:defRPr>
            </a:pPr>
            <a:r>
              <a:t>✓ Calibrated threshold selected only on validation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6053328"/>
            <a:ext cx="7406640" cy="2011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262D34"/>
                </a:solidFill>
                <a:latin typeface="Calibri"/>
              </a:defRPr>
            </a:pPr>
            <a:r>
              <a:t>✓ Millisecond CPU inference; GPU not required</a:t>
            </a:r>
          </a:p>
          <a:p>
            <a:pPr algn="l">
              <a:spcAft>
                <a:spcPts val="500"/>
              </a:spcAft>
              <a:defRPr sz="2100" b="0">
                <a:solidFill>
                  <a:srgbClr val="262D34"/>
                </a:solidFill>
                <a:latin typeface="Calibri"/>
              </a:defRPr>
            </a:pPr>
            <a:r>
              <a:t>✓ Native feature importance for temporal drivers</a:t>
            </a:r>
          </a:p>
          <a:p>
            <a:pPr algn="l">
              <a:spcAft>
                <a:spcPts val="500"/>
              </a:spcAft>
              <a:defRPr sz="2100" b="0">
                <a:solidFill>
                  <a:srgbClr val="262D34"/>
                </a:solidFill>
                <a:latin typeface="Calibri"/>
              </a:defRPr>
            </a:pPr>
            <a:r>
              <a:t>✓ Saved metrics, predictions, and regeneration scripts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4" t="0" r="-43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6" t="0" r="-2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1665" y="725542"/>
            <a:ext cx="15906610" cy="2005347"/>
            <a:chOff x="0" y="0"/>
            <a:chExt cx="21031200" cy="2651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651400"/>
            </a:xfrm>
            <a:custGeom>
              <a:avLst/>
              <a:gdLst/>
              <a:ahLst/>
              <a:cxnLst/>
              <a:rect r="r" b="b" t="t" l="l"/>
              <a:pathLst>
                <a:path h="2651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400"/>
                  </a:lnTo>
                  <a:lnTo>
                    <a:pt x="0" y="2651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1031200" cy="262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PROGRESS &amp; RESULTS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538192" y="9582126"/>
            <a:ext cx="621792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82"/>
              </a:lnSpc>
              <a:spcBef>
                <a:spcPct val="0"/>
              </a:spcBef>
            </a:pPr>
            <a:r>
              <a:rPr sz="2700"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486400" cy="7132320"/>
          </a:xfrm>
          <a:prstGeom prst="roundRect">
            <a:avLst/>
          </a:prstGeom>
          <a:solidFill>
            <a:srgbClr val="EEF3F9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484632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9324D"/>
                </a:solidFill>
                <a:latin typeface="Calibri"/>
              </a:defRPr>
            </a:pPr>
            <a:r>
              <a:t>DATASET &amp;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4846320" cy="5440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262D34"/>
                </a:solidFill>
                <a:latin typeface="Calibri"/>
              </a:defRPr>
            </a:pPr>
            <a:r>
              <a:t>MIMIC-IV 2.1 cardiac cohort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262D34"/>
                </a:solidFill>
                <a:latin typeface="Calibri"/>
              </a:defRPr>
            </a:pPr>
            <a:r>
              <a:t>• Train: 24,678 (4,178 worsening)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262D34"/>
                </a:solidFill>
                <a:latin typeface="Calibri"/>
              </a:defRPr>
            </a:pPr>
            <a:r>
              <a:t>• Validation: 5,289 (896 worsening)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262D34"/>
                </a:solidFill>
                <a:latin typeface="Calibri"/>
              </a:defRPr>
            </a:pPr>
            <a:r>
              <a:t>• Test: 5,289 (896 worsening)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262D34"/>
                </a:solidFill>
                <a:latin typeface="Calibri"/>
              </a:defRPr>
            </a:pPr>
            <a:r>
              <a:t>• Positive class: 16.9%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262D34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2000" b="0">
                <a:solidFill>
                  <a:srgbClr val="262D34"/>
                </a:solidFill>
                <a:latin typeface="Calibri"/>
              </a:defRPr>
            </a:pPr>
            <a:r>
              <a:t>Each sample: 6 visits × 59 features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262D34"/>
                </a:solidFill>
                <a:latin typeface="Calibri"/>
              </a:defRPr>
            </a:pPr>
            <a:r>
              <a:t>Vitals • labs • cardiac markers • demographics • history • temporal 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148840"/>
            <a:ext cx="10927080" cy="7132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414016"/>
            <a:ext cx="10195560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B6E75"/>
                </a:solidFill>
                <a:latin typeface="Calibri"/>
              </a:defRPr>
            </a:pPr>
            <a:r>
              <a:t>BASELINE → IMPROVED</a:t>
            </a:r>
          </a:p>
        </p:txBody>
      </p:sp>
      <p:pic>
        <p:nvPicPr>
          <p:cNvPr id="15" name="Picture 14" descr="improved_model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949058"/>
            <a:ext cx="10378440" cy="5943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4" t="0" r="-43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6" t="0" r="-2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1665" y="725542"/>
            <a:ext cx="15906610" cy="2005347"/>
            <a:chOff x="0" y="0"/>
            <a:chExt cx="21031200" cy="2651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651400"/>
            </a:xfrm>
            <a:custGeom>
              <a:avLst/>
              <a:gdLst/>
              <a:ahLst/>
              <a:cxnLst/>
              <a:rect r="r" b="b" t="t" l="l"/>
              <a:pathLst>
                <a:path h="2651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400"/>
                  </a:lnTo>
                  <a:lnTo>
                    <a:pt x="0" y="2651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1031200" cy="262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PROGRESS &amp; RESULTS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538192" y="9582126"/>
            <a:ext cx="621792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82"/>
              </a:lnSpc>
              <a:spcBef>
                <a:spcPct val="0"/>
              </a:spcBef>
            </a:pPr>
            <a:r>
              <a:rPr sz="2700"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5760720" cy="7132320"/>
          </a:xfrm>
          <a:prstGeom prst="roundRect">
            <a:avLst/>
          </a:prstGeom>
          <a:solidFill>
            <a:srgbClr val="EAF4F5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68880"/>
            <a:ext cx="51206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0B6E75"/>
                </a:solidFill>
                <a:latin typeface="Calibri"/>
              </a:defRPr>
            </a:pPr>
            <a:r>
              <a:t>WHY TEMPORAL GBM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154680"/>
            <a:ext cx="5074920" cy="5715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The sequence is short (6 timesteps), so explicit change descriptors are highly informative.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Engineered per feature: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• first / last / mean / median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• min / max / range / IQR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• delta / slope / half-split trend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• velocity / acceleration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• variability / total variation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HistGB + LightGBM + XGBoost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262D34"/>
                </a:solidFill>
                <a:latin typeface="Calibri"/>
              </a:defRPr>
            </a:pPr>
            <a:r>
              <a:t>→ isotonic calibration → soft vote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148840"/>
            <a:ext cx="10607040" cy="7132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414016"/>
            <a:ext cx="9966960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9324D"/>
                </a:solidFill>
                <a:latin typeface="Calibri"/>
              </a:defRPr>
            </a:pPr>
            <a:r>
              <a:t>MOST IMPORTANT TEMPORAL SIGNALS</a:t>
            </a:r>
          </a:p>
        </p:txBody>
      </p:sp>
      <p:pic>
        <p:nvPicPr>
          <p:cNvPr id="15" name="Picture 14" descr="improved_feature_impor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6305" y="2907792"/>
            <a:ext cx="7044708" cy="6053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4" t="0" r="-43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6" t="0" r="-2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1665" y="725542"/>
            <a:ext cx="15906610" cy="2005347"/>
            <a:chOff x="0" y="0"/>
            <a:chExt cx="21031200" cy="2651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651400"/>
            </a:xfrm>
            <a:custGeom>
              <a:avLst/>
              <a:gdLst/>
              <a:ahLst/>
              <a:cxnLst/>
              <a:rect r="r" b="b" t="t" l="l"/>
              <a:pathLst>
                <a:path h="2651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400"/>
                  </a:lnTo>
                  <a:lnTo>
                    <a:pt x="0" y="2651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1031200" cy="262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PROGRESS &amp; RESULTS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538192" y="9582126"/>
            <a:ext cx="621792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82"/>
              </a:lnSpc>
              <a:spcBef>
                <a:spcPct val="0"/>
              </a:spcBef>
            </a:pPr>
            <a:r>
              <a:rPr sz="2700">
                <a:latin typeface="Calibri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48840"/>
            <a:ext cx="5897880" cy="7132320"/>
          </a:xfrm>
          <a:prstGeom prst="roundRect">
            <a:avLst/>
          </a:prstGeom>
          <a:solidFill>
            <a:srgbClr val="19324D"/>
          </a:solidFill>
          <a:ln w="15240">
            <a:solidFill>
              <a:srgbClr val="19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514600"/>
            <a:ext cx="516636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BEST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82112"/>
            <a:ext cx="5166360" cy="7772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FFFFF"/>
                </a:solidFill>
                <a:latin typeface="Calibri"/>
              </a:defRPr>
            </a:pPr>
            <a:r>
              <a:t>GBM soft-vote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5166360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HistGB + LightGBM + XGBoost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Isotonic-calibrated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Validation-tuned threshold: 0.335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598932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6135624"/>
            <a:ext cx="214884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0B6E75"/>
                </a:solidFill>
                <a:latin typeface="Calibri"/>
              </a:defRPr>
            </a:pPr>
            <a:r>
              <a:t>0.7334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6702552"/>
            <a:ext cx="2148840" cy="5029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C6874"/>
                </a:solidFill>
                <a:latin typeface="Calibri"/>
              </a:defRPr>
            </a:pPr>
            <a:r>
              <a:t>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598932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6135624"/>
            <a:ext cx="214884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8A64"/>
                </a:solidFill>
                <a:latin typeface="Calibri"/>
              </a:defRPr>
            </a:pPr>
            <a:r>
              <a:t>0.9462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6702552"/>
            <a:ext cx="2148840" cy="5029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C6874"/>
                </a:solidFill>
                <a:latin typeface="Calibri"/>
              </a:defRPr>
            </a:pPr>
            <a:r>
              <a:t>ROC-AUC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7635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7781544"/>
            <a:ext cx="214884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E8873D"/>
                </a:solidFill>
                <a:latin typeface="Calibri"/>
              </a:defRPr>
            </a:pPr>
            <a:r>
              <a:t>0.7226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8348471"/>
            <a:ext cx="2148840" cy="5029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C6874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7635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7781544"/>
            <a:ext cx="214884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C34A4A"/>
                </a:solidFill>
                <a:latin typeface="Calibri"/>
              </a:defRPr>
            </a:pPr>
            <a:r>
              <a:t>0.7444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8348471"/>
            <a:ext cx="2148840" cy="5029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C6874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148840"/>
            <a:ext cx="10469880" cy="7132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450592"/>
            <a:ext cx="9829800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9324D"/>
                </a:solidFill>
                <a:latin typeface="Calibri"/>
              </a:defRPr>
            </a:pPr>
            <a:r>
              <a:t>HELD-OUT TEST SET • n = 5,289</a:t>
            </a:r>
          </a:p>
        </p:txBody>
      </p:sp>
      <p:pic>
        <p:nvPicPr>
          <p:cNvPr id="29" name="Picture 28" descr="improved_confusion_matri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1102" y="2926080"/>
            <a:ext cx="7852275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4" t="0" r="-43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6" t="0" r="-2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1665" y="725542"/>
            <a:ext cx="15906610" cy="2005347"/>
            <a:chOff x="0" y="0"/>
            <a:chExt cx="21031200" cy="2651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651400"/>
            </a:xfrm>
            <a:custGeom>
              <a:avLst/>
              <a:gdLst/>
              <a:ahLst/>
              <a:cxnLst/>
              <a:rect r="r" b="b" t="t" l="l"/>
              <a:pathLst>
                <a:path h="2651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400"/>
                  </a:lnTo>
                  <a:lnTo>
                    <a:pt x="0" y="2651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1031200" cy="262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PROGRESS &amp; RESULTS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538192" y="9582126"/>
            <a:ext cx="621792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82"/>
              </a:lnSpc>
              <a:spcBef>
                <a:spcPct val="0"/>
              </a:spcBef>
            </a:pPr>
            <a:r>
              <a:rPr sz="2700">
                <a:latin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4709160" cy="7132320"/>
          </a:xfrm>
          <a:prstGeom prst="roundRect">
            <a:avLst/>
          </a:prstGeom>
          <a:solidFill>
            <a:srgbClr val="EAF6E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406908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2D8A64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4069080" cy="5623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  <a:r>
              <a:t>• Best reproduced sequence baseline: Transformer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  <a:r>
              <a:t>  F1 0.6319 • AUC 0.9168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  <a:r>
              <a:t>• GBM soft vote improves F1 by 0.1015 (+16%).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  <a:r>
              <a:t>• Precision rises from 0.5174 to 0.7226 while recall remains 0.7444.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  <a:r>
              <a:t>• Improved models dominate the ROC and precision-recall curves.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800" b="0">
                <a:solidFill>
                  <a:srgbClr val="262D34"/>
                </a:solidFill>
                <a:latin typeface="Calibri"/>
              </a:defRPr>
            </a:pPr>
            <a:r>
              <a:t>• Important signals are clinically plausible: SpO₂, blood-pressure and heart-rate variability, bicarbonate, and WBC.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148840"/>
            <a:ext cx="11704320" cy="7132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450592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9324D"/>
                </a:solidFill>
                <a:latin typeface="Calibri"/>
              </a:defRPr>
            </a:pPr>
            <a:r>
              <a:t>ROC CURVES • BASELINES VS TEMPORAL GBM</a:t>
            </a:r>
          </a:p>
        </p:txBody>
      </p:sp>
      <p:pic>
        <p:nvPicPr>
          <p:cNvPr id="16" name="Picture 15" descr="improved_roc_curv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5974" y="2944368"/>
            <a:ext cx="6544667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" t="0" r="-434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6" t="0" r="-236" b="0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1485900" y="215779"/>
            <a:ext cx="15773400" cy="1988553"/>
            <a:chOff x="0" y="0"/>
            <a:chExt cx="21031200" cy="26514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2651400"/>
            </a:xfrm>
            <a:custGeom>
              <a:avLst/>
              <a:gdLst/>
              <a:ahLst/>
              <a:cxnLst/>
              <a:rect r="r" b="b" t="t" l="l"/>
              <a:pathLst>
                <a:path h="2651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400"/>
                  </a:lnTo>
                  <a:lnTo>
                    <a:pt x="0" y="2651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1031200" cy="262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538192" y="9412560"/>
            <a:ext cx="621792" cy="7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82"/>
              </a:lnSpc>
              <a:spcBef>
                <a:spcPct val="0"/>
              </a:spcBef>
            </a:pPr>
            <a:r>
              <a:rPr sz="2700">
                <a:latin typeface="Calibri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560999"/>
            <a:ext cx="17259300" cy="5136427"/>
          </a:xfrm>
          <a:prstGeom prst="rect">
            <a:avLst/>
          </a:prstGeom>
        </p:spPr>
        <p:txBody>
          <a:bodyPr anchor="t" rtlCol="false" tIns="0" lIns="45720" bIns="0" rIns="0" wrap="square">
            <a:spAutoFit/>
          </a:bodyPr>
          <a:lstStyle/>
          <a:p>
            <a:pPr algn="l" marL="574484" indent="-287242" lvl="1">
              <a:buNone/>
              <a:lnSpc>
                <a:spcPts val="2873"/>
              </a:lnSpc>
              <a:spcAft>
                <a:spcPts val="800"/>
              </a:spcAft>
              <a:buFont typeface="Arial"/>
              <a:defRPr sz="2100">
                <a:solidFill>
                  <a:srgbClr val="262D34"/>
                </a:solidFill>
                <a:latin typeface="Calibri"/>
              </a:defRPr>
            </a:pPr>
            <a:r>
              <a:t>[1] A. E. W. Johnson et al., “MIMIC-IV, a freely accessible electronic health record dataset,” Scientific Data, vol. 10, 2023. DOI: 10.1038/s41597-022-01899-x.</a:t>
            </a:r>
          </a:p>
          <a:p>
            <a:pPr>
              <a:spcAft>
                <a:spcPts val="800"/>
              </a:spcAft>
              <a:buNone/>
              <a:defRPr sz="2100">
                <a:solidFill>
                  <a:srgbClr val="262D34"/>
                </a:solidFill>
                <a:latin typeface="Calibri"/>
              </a:defRPr>
            </a:pPr>
            <a:r>
              <a:t>[2] A. E. W. Johnson et al., MIMIC-IV v2.1, PhysioNet, 2022. DOI: 10.13026/6mm1-ek67.</a:t>
            </a:r>
          </a:p>
          <a:p>
            <a:pPr>
              <a:spcAft>
                <a:spcPts val="800"/>
              </a:spcAft>
              <a:buNone/>
              <a:defRPr sz="2100">
                <a:solidFill>
                  <a:srgbClr val="262D34"/>
                </a:solidFill>
                <a:latin typeface="Calibri"/>
              </a:defRPr>
            </a:pPr>
            <a:r>
              <a:t>[3] A. Vaswani et al., “Attention Is All You Need,” Advances in Neural Information Processing Systems, 2017.</a:t>
            </a:r>
          </a:p>
          <a:p>
            <a:pPr>
              <a:spcAft>
                <a:spcPts val="800"/>
              </a:spcAft>
              <a:buNone/>
              <a:defRPr sz="2100">
                <a:solidFill>
                  <a:srgbClr val="262D34"/>
                </a:solidFill>
                <a:latin typeface="Calibri"/>
              </a:defRPr>
            </a:pPr>
            <a:r>
              <a:t>[4] T. Chen and C. Guestrin, “XGBoost: A Scalable Tree Boosting System,” Proc. ACM SIGKDD, 2016.</a:t>
            </a:r>
          </a:p>
          <a:p>
            <a:pPr>
              <a:spcAft>
                <a:spcPts val="800"/>
              </a:spcAft>
              <a:buNone/>
              <a:defRPr sz="2100">
                <a:solidFill>
                  <a:srgbClr val="262D34"/>
                </a:solidFill>
                <a:latin typeface="Calibri"/>
              </a:defRPr>
            </a:pPr>
            <a:r>
              <a:t>[5] G. Ke et al., “LightGBM: A Highly Efficient Gradient Boosting Decision Tree,” NeurIPS, 2017.</a:t>
            </a:r>
          </a:p>
          <a:p>
            <a:pPr>
              <a:spcAft>
                <a:spcPts val="800"/>
              </a:spcAft>
              <a:buNone/>
              <a:defRPr sz="2100">
                <a:solidFill>
                  <a:srgbClr val="262D34"/>
                </a:solidFill>
                <a:latin typeface="Calibri"/>
              </a:defRPr>
            </a:pPr>
            <a:r>
              <a:t>[6] Project repository: github.com/Venkat-023/Longitudinal-Temporal-Disease-Progression (commit 505e4e5, accessed 12 Aug 2026).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4219" y="48"/>
            <a:ext cx="11203781" cy="8715327"/>
            <a:chOff x="0" y="0"/>
            <a:chExt cx="14938375" cy="11620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8375" cy="11620500"/>
            </a:xfrm>
            <a:custGeom>
              <a:avLst/>
              <a:gdLst/>
              <a:ahLst/>
              <a:cxnLst/>
              <a:rect r="r" b="b" t="t" l="l"/>
              <a:pathLst>
                <a:path h="11620500" w="14938375">
                  <a:moveTo>
                    <a:pt x="0" y="0"/>
                  </a:moveTo>
                  <a:lnTo>
                    <a:pt x="14938375" y="0"/>
                  </a:lnTo>
                  <a:lnTo>
                    <a:pt x="14938375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3716000" y="609600"/>
            <a:ext cx="3947160" cy="600456"/>
            <a:chOff x="0" y="0"/>
            <a:chExt cx="5262880" cy="800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2880" cy="800608"/>
            </a:xfrm>
            <a:custGeom>
              <a:avLst/>
              <a:gdLst/>
              <a:ahLst/>
              <a:cxnLst/>
              <a:rect r="r" b="b" t="t" l="l"/>
              <a:pathLst>
                <a:path h="800608" w="5262880">
                  <a:moveTo>
                    <a:pt x="0" y="0"/>
                  </a:moveTo>
                  <a:lnTo>
                    <a:pt x="5262880" y="0"/>
                  </a:lnTo>
                  <a:lnTo>
                    <a:pt x="5262880" y="800608"/>
                  </a:lnTo>
                  <a:lnTo>
                    <a:pt x="0" y="80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4" t="0" r="-434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432816" y="432816"/>
            <a:ext cx="4507992" cy="1295400"/>
            <a:chOff x="0" y="0"/>
            <a:chExt cx="6010656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0656" cy="1727200"/>
            </a:xfrm>
            <a:custGeom>
              <a:avLst/>
              <a:gdLst/>
              <a:ahLst/>
              <a:cxnLst/>
              <a:rect r="r" b="b" t="t" l="l"/>
              <a:pathLst>
                <a:path h="1727200" w="6010656">
                  <a:moveTo>
                    <a:pt x="0" y="0"/>
                  </a:moveTo>
                  <a:lnTo>
                    <a:pt x="6010656" y="0"/>
                  </a:lnTo>
                  <a:lnTo>
                    <a:pt x="6010656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6" t="0" r="-236" b="0"/>
              </a:stretch>
            </a:blip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3289221" y="4022093"/>
            <a:ext cx="11521459" cy="164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sz="5400" b="1"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DAHSDdybxkA</dc:identifier>
  <dcterms:modified xsi:type="dcterms:W3CDTF">2011-08-01T06:04:30Z</dcterms:modified>
  <cp:revision>1</cp:revision>
  <dc:title>Longitudinal Temporal Disease Progression</dc:title>
  <dc:subject>Updated from repository commit 505e4e5</dc:subject>
  <dc:description>Updated 12 Aug 2026 with full MIMIC-IV results and temporal GBM ensemble.</dc:description>
</cp:coreProperties>
</file>